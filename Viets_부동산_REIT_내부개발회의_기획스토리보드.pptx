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27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800" b="1">
                <a:solidFill>
                  <a:srgbClr val="191919"/>
                </a:solidFill>
                <a:latin typeface="Aptos Display"/>
              </a:rPr>
              <a:t>Viet's</a:t>
            </a:r>
          </a:p>
          <a:p>
            <a:r>
              <a:rPr sz="2400">
                <a:solidFill>
                  <a:srgbClr val="127068"/>
                </a:solidFill>
              </a:rPr>
              <a:t>Vietnam Real Estate &amp; Investment Platform</a:t>
            </a:r>
          </a:p>
          <a:p>
            <a:r>
              <a:rPr sz="1500">
                <a:solidFill>
                  <a:srgbClr val="696969"/>
                </a:solidFill>
              </a:rPr>
              <a:t>Internal Planning &amp; Development Meeting Deck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4160520"/>
            <a:ext cx="338328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27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4325112"/>
            <a:ext cx="2980944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27068"/>
                </a:solidFill>
                <a:latin typeface="Aptos Display"/>
              </a:rPr>
              <a:t>PRODUCT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부동산 · 투자정보 · AI · 시장데이터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4160520"/>
            <a:ext cx="338328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36007" y="4325112"/>
            <a:ext cx="2980944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1919"/>
                </a:solidFill>
                <a:latin typeface="Aptos Display"/>
              </a:rPr>
              <a:t>MOBILE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React Native · Expo · Multilingual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4160520"/>
            <a:ext cx="338328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4325112"/>
            <a:ext cx="2980944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1919"/>
                </a:solidFill>
                <a:latin typeface="Aptos Display"/>
              </a:rPr>
              <a:t>BACKEND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Supabase · PostgreSQL · PostGIS · pgvector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1E1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6969"/>
                </a:solidFill>
              </a:rPr>
              <a:t>VIET'S  /  INTERNAL · DEVELOPMENT MEETING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1919"/>
                </a:solidFill>
                <a:latin typeface="Aptos Display"/>
              </a:rPr>
              <a:t>회의 목적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6969"/>
                </a:solidFill>
                <a:latin typeface="Aptos"/>
              </a:rPr>
              <a:t>내부 의사결정과 개발 착수를 위한 공통 설계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191919"/>
                </a:solidFill>
                <a:latin typeface="Aptos"/>
              </a:defRPr>
            </a:pPr>
            <a:r>
              <a:t>01  서비스 방향과 핵심 가치</a:t>
            </a:r>
          </a:p>
          <a:p>
            <a:pPr>
              <a:spcAft>
                <a:spcPts val="1000"/>
              </a:spcAft>
              <a:defRPr sz="1900" b="1">
                <a:solidFill>
                  <a:srgbClr val="191919"/>
                </a:solidFill>
                <a:latin typeface="Aptos"/>
              </a:defRPr>
            </a:pPr>
            <a:r>
              <a:t>02  사용자 경험 / 스토리보드</a:t>
            </a:r>
          </a:p>
          <a:p>
            <a:pPr>
              <a:spcAft>
                <a:spcPts val="1000"/>
              </a:spcAft>
              <a:defRPr sz="1900" b="1">
                <a:solidFill>
                  <a:srgbClr val="191919"/>
                </a:solidFill>
                <a:latin typeface="Aptos"/>
              </a:defRPr>
            </a:pPr>
            <a:r>
              <a:t>03  기능·페이지·데이터 구조</a:t>
            </a:r>
          </a:p>
          <a:p>
            <a:pPr>
              <a:spcAft>
                <a:spcPts val="1000"/>
              </a:spcAft>
              <a:defRPr sz="1900" b="1">
                <a:solidFill>
                  <a:srgbClr val="191919"/>
                </a:solidFill>
                <a:latin typeface="Aptos"/>
              </a:defRPr>
            </a:pPr>
            <a:r>
              <a:t>04  AI Research / 시장정보 / 환율</a:t>
            </a:r>
          </a:p>
          <a:p>
            <a:pPr>
              <a:spcAft>
                <a:spcPts val="1000"/>
              </a:spcAft>
              <a:defRPr sz="1900" b="1">
                <a:solidFill>
                  <a:srgbClr val="191919"/>
                </a:solidFill>
                <a:latin typeface="Aptos"/>
              </a:defRPr>
            </a:pPr>
            <a:r>
              <a:t>05  API·서버·DB·Push 아키텍처</a:t>
            </a:r>
          </a:p>
          <a:p>
            <a:pPr>
              <a:spcAft>
                <a:spcPts val="1000"/>
              </a:spcAft>
              <a:defRPr sz="1900" b="1">
                <a:solidFill>
                  <a:srgbClr val="191919"/>
                </a:solidFill>
                <a:latin typeface="Aptos"/>
              </a:defRPr>
            </a:pPr>
            <a:r>
              <a:t>06  개발 단계와 QA / 보안 원칙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1E1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6969"/>
                </a:solidFill>
              </a:rPr>
              <a:t>VIET'S  /  INTERNAL · DEVELOPMENT MEETING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27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24028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7068"/>
                </a:solidFill>
              </a:rPr>
              <a:t>01 · PRODUCT</a:t>
            </a:r>
          </a:p>
          <a:p>
            <a:r>
              <a:rPr sz="3800" b="1">
                <a:solidFill>
                  <a:srgbClr val="191919"/>
                </a:solidFill>
              </a:rPr>
              <a:t>서비스 비전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1E1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6969"/>
                </a:solidFill>
              </a:rPr>
              <a:t>VIET'S  /  INTERNAL · DEVELOPMENT MEETING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1919"/>
                </a:solidFill>
                <a:latin typeface="Aptos Display"/>
              </a:rPr>
              <a:t>Viet's의 포지셔닝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6969"/>
                </a:solidFill>
                <a:latin typeface="Aptos"/>
              </a:rPr>
              <a:t>단순 매물 앱이 아니라 ‘정보 → 자산 → 투자정보’ 연결 플랫폼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4290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27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581912"/>
            <a:ext cx="3026664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27068"/>
                </a:solidFill>
                <a:latin typeface="Aptos Display"/>
              </a:rPr>
              <a:t>부동산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매물·지역·지도·임대수익·개발정보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17320"/>
            <a:ext cx="34290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27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0288" y="1581912"/>
            <a:ext cx="3026664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27068"/>
                </a:solidFill>
                <a:latin typeface="Aptos Display"/>
              </a:rPr>
              <a:t>투자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REIT·공동투자·프로젝트 정보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59" y="1417320"/>
            <a:ext cx="34290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39327" y="1581912"/>
            <a:ext cx="3026664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1919"/>
                </a:solidFill>
                <a:latin typeface="Aptos Display"/>
              </a:rPr>
              <a:t>AI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베트남 부동산 뉴스 자동 수집·분석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474720"/>
            <a:ext cx="34290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3639312"/>
            <a:ext cx="3026664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1919"/>
                </a:solidFill>
                <a:latin typeface="Aptos Display"/>
              </a:rPr>
              <a:t>시장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환율·시장지표·지역 트렌드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474720"/>
            <a:ext cx="34290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3639312"/>
            <a:ext cx="3026664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1919"/>
                </a:solidFill>
                <a:latin typeface="Aptos Display"/>
              </a:rPr>
              <a:t>개인화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관심지역·관심상품·Portfolio·Push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59" y="3474720"/>
            <a:ext cx="34290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7" y="3639312"/>
            <a:ext cx="3026664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1919"/>
                </a:solidFill>
                <a:latin typeface="Aptos Display"/>
              </a:rPr>
              <a:t>관리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심사·공시·CMS·AI 검수·운영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1E1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6969"/>
                </a:solidFill>
              </a:rPr>
              <a:t>VIET'S  /  INTERNAL · DEVELOPMENT MEETING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27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24028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7068"/>
                </a:solidFill>
              </a:rPr>
              <a:t>02 · UX / STORYBOARD</a:t>
            </a:r>
          </a:p>
          <a:p>
            <a:r>
              <a:rPr sz="3800" b="1">
                <a:solidFill>
                  <a:srgbClr val="191919"/>
                </a:solidFill>
              </a:rPr>
              <a:t>사용자 경험 스토리보드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1E1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6969"/>
                </a:solidFill>
              </a:rPr>
              <a:t>VIET'S  /  INTERNAL · DEVELOPMENT MEETING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1919"/>
                </a:solidFill>
                <a:latin typeface="Aptos Display"/>
              </a:rPr>
              <a:t>INTRO → HOME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6969"/>
                </a:solidFill>
                <a:latin typeface="Aptos"/>
              </a:rPr>
              <a:t>5초 브랜드 인트로 후 핵심 정보로 즉시 진입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2514600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673351"/>
            <a:ext cx="2112264" cy="2962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1919"/>
                </a:solidFill>
                <a:latin typeface="Aptos Display"/>
              </a:rPr>
              <a:t>INTRO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YouTube 영상</a:t>
            </a:r>
            <a:br/>
            <a:r>
              <a:t>최대 5초 · 실패 시에도 자동 이동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508760"/>
            <a:ext cx="2514600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27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75887" y="1673351"/>
            <a:ext cx="2112264" cy="2962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27068"/>
                </a:solidFill>
                <a:latin typeface="Aptos Display"/>
              </a:rPr>
              <a:t>HOME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검색 · 추천상품 · 지역 · AI News · 환율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08760"/>
            <a:ext cx="2514600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8" y="1673351"/>
            <a:ext cx="2112264" cy="2962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1919"/>
                </a:solidFill>
                <a:latin typeface="Aptos Display"/>
              </a:rPr>
              <a:t>SEARCH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자연어 · 지역 · 카테고리 · 지도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1508760"/>
            <a:ext cx="2514600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45168" y="1673351"/>
            <a:ext cx="2112264" cy="2962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1919"/>
                </a:solidFill>
                <a:latin typeface="Aptos Display"/>
              </a:rPr>
              <a:t>PROPERTY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목록 ↔ 지도 ↔ 상세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1E1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6969"/>
                </a:solidFill>
              </a:rPr>
              <a:t>VIET'S  /  INTERNAL · DEVELOPMENT MEETING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1919"/>
                </a:solidFill>
                <a:latin typeface="Aptos Display"/>
              </a:rPr>
              <a:t>모바일 정보구조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6969"/>
                </a:solidFill>
                <a:latin typeface="Aptos"/>
              </a:rPr>
              <a:t>5개 Bottom Navigation + Global Search / Notification / Language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2011680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993392"/>
            <a:ext cx="1609344" cy="2139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1919"/>
                </a:solidFill>
                <a:latin typeface="Aptos Display"/>
              </a:rPr>
              <a:t>HOME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시장 요약</a:t>
            </a:r>
            <a:br/>
            <a:r>
              <a:t>추천 · 배너 · 환율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0360" y="1828800"/>
            <a:ext cx="2011680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81528" y="1993392"/>
            <a:ext cx="1609344" cy="2139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1919"/>
                </a:solidFill>
                <a:latin typeface="Aptos Display"/>
              </a:rPr>
              <a:t>PROPERTY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매물 · 지도</a:t>
            </a:r>
            <a:br/>
            <a:r>
              <a:t>지역 · 수익률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60" y="1828800"/>
            <a:ext cx="2011680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27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67528" y="1993392"/>
            <a:ext cx="1609344" cy="2139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27068"/>
                </a:solidFill>
                <a:latin typeface="Aptos Display"/>
              </a:rPr>
              <a:t>INVEST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투자상품</a:t>
            </a:r>
            <a:br/>
            <a:r>
              <a:t>계산기 · 공시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1828800"/>
            <a:ext cx="2011680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53528" y="1993392"/>
            <a:ext cx="1609344" cy="2139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1919"/>
                </a:solidFill>
                <a:latin typeface="Aptos Display"/>
              </a:rPr>
              <a:t>AI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뉴스 · 시장분석</a:t>
            </a:r>
            <a:br/>
            <a:r>
              <a:t>자연어 검색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38360" y="1828800"/>
            <a:ext cx="2011680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39528" y="1993392"/>
            <a:ext cx="1609344" cy="2139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1919"/>
                </a:solidFill>
                <a:latin typeface="Aptos Display"/>
              </a:rPr>
              <a:t>MY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Profile · Portfolio</a:t>
            </a:r>
            <a:br/>
            <a:r>
              <a:t>알림 · 설정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1E1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6969"/>
                </a:solidFill>
              </a:rPr>
              <a:t>VIET'S  /  INTERNAL · DEVELOPMENT MEETING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27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24028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7068"/>
                </a:solidFill>
              </a:rPr>
              <a:t>03 · PROPERTY</a:t>
            </a:r>
          </a:p>
          <a:p>
            <a:r>
              <a:rPr sz="3800" b="1">
                <a:solidFill>
                  <a:srgbClr val="191919"/>
                </a:solidFill>
              </a:rPr>
              <a:t>부동산 탐색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1E1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6969"/>
                </a:solidFill>
              </a:rPr>
              <a:t>VIET'S  /  INTERNAL · DEVELOPMENT MEETING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1919"/>
                </a:solidFill>
                <a:latin typeface="Aptos Display"/>
              </a:rPr>
              <a:t>Property 상세 화면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6969"/>
                </a:solidFill>
                <a:latin typeface="Aptos"/>
              </a:rPr>
              <a:t>지도와 투자정보를 하나의 자산 페이지에 연결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4290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581912"/>
            <a:ext cx="3026664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1919"/>
                </a:solidFill>
                <a:latin typeface="Aptos Display"/>
              </a:rPr>
              <a:t>GALLERY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사진 / 동영상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17320"/>
            <a:ext cx="34290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0288" y="1581912"/>
            <a:ext cx="3026664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1919"/>
                </a:solidFill>
                <a:latin typeface="Aptos Display"/>
              </a:rPr>
              <a:t>BASIC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가격 · 면적 · 용도 · 임대수익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59" y="1417320"/>
            <a:ext cx="34290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39327" y="1581912"/>
            <a:ext cx="3026664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1919"/>
                </a:solidFill>
                <a:latin typeface="Aptos Display"/>
              </a:rPr>
              <a:t>LOCATION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Google Maps · 거리 · 주변시설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474720"/>
            <a:ext cx="34290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3639312"/>
            <a:ext cx="3026664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1919"/>
                </a:solidFill>
                <a:latin typeface="Aptos Display"/>
              </a:rPr>
              <a:t>DOCUMENT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등기 · 감정 · 임대계약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474720"/>
            <a:ext cx="34290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27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3639312"/>
            <a:ext cx="3026664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27068"/>
                </a:solidFill>
                <a:latin typeface="Aptos Display"/>
              </a:rPr>
              <a:t>INVESTMENT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연결된 투자상품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59" y="3474720"/>
            <a:ext cx="34290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7" y="3639312"/>
            <a:ext cx="3026664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1919"/>
                </a:solidFill>
                <a:latin typeface="Aptos Display"/>
              </a:rPr>
              <a:t>MARKET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지역 뉴스 · 개발 · 가격동향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1E1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6969"/>
                </a:solidFill>
              </a:rPr>
              <a:t>VIET'S  /  INTERNAL · DEVELOPMENT MEETING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27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24028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7068"/>
                </a:solidFill>
              </a:rPr>
              <a:t>04 · INVESTMENT</a:t>
            </a:r>
          </a:p>
          <a:p>
            <a:r>
              <a:rPr sz="3800" b="1">
                <a:solidFill>
                  <a:srgbClr val="191919"/>
                </a:solidFill>
              </a:rPr>
              <a:t>투자상품 &amp; Portfolio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1E1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6969"/>
                </a:solidFill>
              </a:rPr>
              <a:t>VIET'S  /  INTERNAL · DEVELOPMENT MEETING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1919"/>
                </a:solidFill>
                <a:latin typeface="Aptos Display"/>
              </a:rPr>
              <a:t>Investment 상세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6969"/>
                </a:solidFill>
                <a:latin typeface="Aptos"/>
              </a:rPr>
              <a:t>핵심 숫자는 크고, 위험·공시는 명확하게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4290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27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581912"/>
            <a:ext cx="3026664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27068"/>
                </a:solidFill>
                <a:latin typeface="Aptos Display"/>
              </a:rPr>
              <a:t>EXPECTED RETURN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예상 연수익률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17320"/>
            <a:ext cx="34290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0288" y="1581912"/>
            <a:ext cx="3026664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1919"/>
                </a:solidFill>
                <a:latin typeface="Aptos Display"/>
              </a:rPr>
              <a:t>MINIMUM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최소 투자금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59" y="1417320"/>
            <a:ext cx="34290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39327" y="1581912"/>
            <a:ext cx="3026664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1919"/>
                </a:solidFill>
                <a:latin typeface="Aptos Display"/>
              </a:rPr>
              <a:t>TERM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투자기간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474720"/>
            <a:ext cx="34290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3639312"/>
            <a:ext cx="3026664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1919"/>
                </a:solidFill>
                <a:latin typeface="Aptos Display"/>
              </a:rPr>
              <a:t>FUNDING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모집률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474720"/>
            <a:ext cx="34290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3639312"/>
            <a:ext cx="3026664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1919"/>
                </a:solidFill>
                <a:latin typeface="Aptos Display"/>
              </a:rPr>
              <a:t>RISK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위험등급 · 주요 위험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59" y="3474720"/>
            <a:ext cx="34290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7" y="3639312"/>
            <a:ext cx="3026664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1919"/>
                </a:solidFill>
                <a:latin typeface="Aptos Display"/>
              </a:rPr>
              <a:t>DISCLOSURE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공시자료 · 운용정보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1E1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6969"/>
                </a:solidFill>
              </a:rPr>
              <a:t>VIET'S  /  INTERNAL · DEVELOPMENT MEETING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1919"/>
                </a:solidFill>
                <a:latin typeface="Aptos Display"/>
              </a:rPr>
              <a:t>MY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6969"/>
                </a:solidFill>
                <a:latin typeface="Aptos"/>
              </a:rPr>
              <a:t>개인 자산을 상품·지역·위험별로 한눈에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1554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627632"/>
            <a:ext cx="2889504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1919"/>
                </a:solidFill>
                <a:latin typeface="Aptos Display"/>
              </a:rPr>
              <a:t>TOTAL ASSETS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총 투자자산</a:t>
            </a:r>
            <a:br/>
            <a:r>
              <a:t>큰 숫자 중심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463040"/>
            <a:ext cx="3291840" cy="1554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36007" y="1627632"/>
            <a:ext cx="2889504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1919"/>
                </a:solidFill>
                <a:latin typeface="Aptos Display"/>
              </a:rPr>
              <a:t>DIVIDENDS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누적 배당</a:t>
            </a:r>
            <a:br/>
            <a:r>
              <a:t>상품별 상세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463040"/>
            <a:ext cx="3291840" cy="1554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39328" y="1627632"/>
            <a:ext cx="2889504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1919"/>
                </a:solidFill>
                <a:latin typeface="Aptos Display"/>
              </a:rPr>
              <a:t>RETURN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예상 수익률</a:t>
            </a:r>
            <a:br/>
            <a:r>
              <a:t>확정/예상 구분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47472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91919"/>
                </a:solidFill>
                <a:latin typeface="Aptos"/>
              </a:defRPr>
            </a:pPr>
            <a:r>
              <a:t>상품별 Holding</a:t>
            </a:r>
          </a:p>
          <a:p>
            <a:pPr>
              <a:spcAft>
                <a:spcPts val="1000"/>
              </a:spcAft>
              <a:defRPr sz="1600" b="1">
                <a:solidFill>
                  <a:srgbClr val="191919"/>
                </a:solidFill>
                <a:latin typeface="Aptos"/>
              </a:defRPr>
            </a:pPr>
            <a:r>
              <a:t>지역별 비중</a:t>
            </a:r>
          </a:p>
          <a:p>
            <a:pPr>
              <a:spcAft>
                <a:spcPts val="1000"/>
              </a:spcAft>
              <a:defRPr sz="1600" b="1">
                <a:solidFill>
                  <a:srgbClr val="191919"/>
                </a:solidFill>
                <a:latin typeface="Aptos"/>
              </a:defRPr>
            </a:pPr>
            <a:r>
              <a:t>배당 일정</a:t>
            </a:r>
          </a:p>
          <a:p>
            <a:pPr>
              <a:spcAft>
                <a:spcPts val="1000"/>
              </a:spcAft>
              <a:defRPr sz="1600" b="1">
                <a:solidFill>
                  <a:srgbClr val="191919"/>
                </a:solidFill>
                <a:latin typeface="Aptos"/>
              </a:defRPr>
            </a:pPr>
            <a:r>
              <a:t>거래내역 / 원장</a:t>
            </a:r>
          </a:p>
          <a:p>
            <a:pPr>
              <a:spcAft>
                <a:spcPts val="1000"/>
              </a:spcAft>
              <a:defRPr sz="1600" b="1">
                <a:solidFill>
                  <a:srgbClr val="191919"/>
                </a:solidFill>
                <a:latin typeface="Aptos"/>
              </a:defRPr>
            </a:pPr>
            <a:r>
              <a:t>중요 공시 Push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1E1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6969"/>
                </a:solidFill>
              </a:rPr>
              <a:t>VIET'S  /  INTERNAL · DEVELOPMENT MEETING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27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24028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7068"/>
                </a:solidFill>
              </a:rPr>
              <a:t>05 · AI / DATA</a:t>
            </a:r>
          </a:p>
          <a:p>
            <a:r>
              <a:rPr sz="3800" b="1">
                <a:solidFill>
                  <a:srgbClr val="191919"/>
                </a:solidFill>
              </a:rPr>
              <a:t>AI Real Estate Intelligence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1E1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6969"/>
                </a:solidFill>
              </a:rPr>
              <a:t>VIET'S  /  INTERNAL · DEVELOPMENT MEETING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1919"/>
                </a:solidFill>
                <a:latin typeface="Aptos Display"/>
              </a:rPr>
              <a:t>AI Research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6969"/>
                </a:solidFill>
                <a:latin typeface="Aptos"/>
              </a:rPr>
              <a:t>자동 수집 → 분석 → 번역 → 검수 → 게시 → Push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828800"/>
            <a:ext cx="137160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993392"/>
            <a:ext cx="969264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1919"/>
                </a:solidFill>
                <a:latin typeface="Aptos Display"/>
              </a:rPr>
              <a:t>Source
Collector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공식·신뢰 가능한 출처 우선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75688" y="1828800"/>
            <a:ext cx="137160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76856" y="1993392"/>
            <a:ext cx="969264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1919"/>
                </a:solidFill>
                <a:latin typeface="Aptos Display"/>
              </a:rPr>
              <a:t>Duplicate
Check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39896" y="1828800"/>
            <a:ext cx="137160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27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41063" y="1993392"/>
            <a:ext cx="969264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27068"/>
                </a:solidFill>
                <a:latin typeface="Aptos Display"/>
              </a:rPr>
              <a:t>AI Summary
&amp; Facts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04104" y="1828800"/>
            <a:ext cx="137160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05272" y="1993392"/>
            <a:ext cx="969264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1919"/>
                </a:solidFill>
                <a:latin typeface="Aptos Display"/>
              </a:rPr>
              <a:t>Category
/ Embedding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68312" y="1828800"/>
            <a:ext cx="137160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9480" y="1993392"/>
            <a:ext cx="969264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1919"/>
                </a:solidFill>
                <a:latin typeface="Aptos Display"/>
              </a:rPr>
              <a:t>Translation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2519" y="1828800"/>
            <a:ext cx="137160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33688" y="1993392"/>
            <a:ext cx="969264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1919"/>
                </a:solidFill>
                <a:latin typeface="Aptos Display"/>
              </a:rPr>
              <a:t>Admin
Review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396728" y="1828800"/>
            <a:ext cx="137160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97896" y="1993392"/>
            <a:ext cx="969264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1919"/>
                </a:solidFill>
                <a:latin typeface="Aptos Display"/>
              </a:rPr>
              <a:t>Publish
+ Push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1E1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6969"/>
                </a:solidFill>
              </a:rPr>
              <a:t>VIET'S  /  INTERNAL · DEVELOPMENT MEETING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1919"/>
                </a:solidFill>
                <a:latin typeface="Aptos Display"/>
              </a:rPr>
              <a:t>AI 자연어 검색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6969"/>
                </a:solidFill>
                <a:latin typeface="Aptos"/>
              </a:rPr>
              <a:t>RAG + Property Search + Investment Search + Market Search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2286000" cy="2560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27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719072"/>
            <a:ext cx="1883664" cy="2231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27068"/>
                </a:solidFill>
                <a:latin typeface="Aptos Display"/>
              </a:rPr>
              <a:t>USER QUERY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“하이퐁에서 발전 가능성이 높은 상업용 부동산은?”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1554480"/>
            <a:ext cx="2286000" cy="2560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47288" y="1719072"/>
            <a:ext cx="1883664" cy="2231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1919"/>
                </a:solidFill>
                <a:latin typeface="Aptos Display"/>
              </a:rPr>
              <a:t>RETRIEVAL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Vector</a:t>
            </a:r>
            <a:br/>
            <a:r>
              <a:t>Property</a:t>
            </a:r>
            <a:br/>
            <a:r>
              <a:t>Investment</a:t>
            </a:r>
            <a:br/>
            <a:r>
              <a:t>Market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1554480"/>
            <a:ext cx="2286000" cy="2560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53328" y="1719072"/>
            <a:ext cx="1883664" cy="2231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1919"/>
                </a:solidFill>
                <a:latin typeface="Aptos Display"/>
              </a:rPr>
              <a:t>AI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근거 기반 종합</a:t>
            </a:r>
            <a:br/>
            <a:r>
              <a:t>사실/추정 분리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8200" y="1554480"/>
            <a:ext cx="2743200" cy="2560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59368" y="1719072"/>
            <a:ext cx="2340864" cy="2231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1919"/>
                </a:solidFill>
                <a:latin typeface="Aptos Display"/>
              </a:rPr>
              <a:t>ANSWER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관련 매물 + 상품 + 뉴스</a:t>
            </a:r>
            <a:br/>
            <a:r>
              <a:t>+ 지도 + 지표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1E1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6969"/>
                </a:solidFill>
              </a:rPr>
              <a:t>VIET'S  /  INTERNAL · DEVELOPMENT MEETING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27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24028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7068"/>
                </a:solidFill>
              </a:rPr>
              <a:t>06 · MARKET</a:t>
            </a:r>
          </a:p>
          <a:p>
            <a:r>
              <a:rPr sz="3800" b="1">
                <a:solidFill>
                  <a:srgbClr val="191919"/>
                </a:solidFill>
              </a:rPr>
              <a:t>시장정보 · 환율 · 알림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1E1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6969"/>
                </a:solidFill>
              </a:rPr>
              <a:t>VIET'S  /  INTERNAL · DEVELOPMENT MEETING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1919"/>
                </a:solidFill>
                <a:latin typeface="Aptos Display"/>
              </a:rPr>
              <a:t>실시간 시장 데이터 &amp; Push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6969"/>
                </a:solidFill>
                <a:latin typeface="Aptos"/>
              </a:rPr>
              <a:t>서버 캐시 기반으로 비용과 안정성을 관리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329184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673351"/>
            <a:ext cx="2889504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1919"/>
                </a:solidFill>
                <a:latin typeface="Aptos Display"/>
              </a:rPr>
              <a:t>EXCHANGE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USD/VND · KRW/VND</a:t>
            </a:r>
            <a:br/>
            <a:r>
              <a:t>CNY/VND · JPY/VND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508760"/>
            <a:ext cx="329184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36007" y="1673351"/>
            <a:ext cx="2889504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1919"/>
                </a:solidFill>
                <a:latin typeface="Aptos Display"/>
              </a:rPr>
              <a:t>MARKET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가격 · 금리 · 지역지표</a:t>
            </a:r>
            <a:br/>
            <a:r>
              <a:t>개발/정책 데이터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508760"/>
            <a:ext cx="329184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0768" y="1673351"/>
            <a:ext cx="2889504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1919"/>
                </a:solidFill>
                <a:latin typeface="Aptos Display"/>
              </a:rPr>
              <a:t>PUSH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신규상품 · 배당 · 공시</a:t>
            </a:r>
            <a:br/>
            <a:r>
              <a:t>관심지역 · 전체 홍보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77639"/>
            <a:ext cx="10424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91919"/>
                </a:solidFill>
                <a:latin typeface="Aptos"/>
              </a:defRPr>
            </a:pPr>
            <a:r>
              <a:t>External API → Edge Function → DB/Cache → App</a:t>
            </a:r>
          </a:p>
          <a:p>
            <a:pPr>
              <a:spcAft>
                <a:spcPts val="1000"/>
              </a:spcAft>
              <a:defRPr sz="1500" b="1">
                <a:solidFill>
                  <a:srgbClr val="191919"/>
                </a:solidFill>
                <a:latin typeface="Aptos"/>
              </a:defRPr>
            </a:pPr>
            <a:r>
              <a:t>FCM: 전체 / 투자자 / 지역 / 상품 / 개별 세그먼트</a:t>
            </a:r>
          </a:p>
          <a:p>
            <a:pPr>
              <a:spcAft>
                <a:spcPts val="1000"/>
              </a:spcAft>
              <a:defRPr sz="1500" b="1">
                <a:solidFill>
                  <a:srgbClr val="191919"/>
                </a:solidFill>
                <a:latin typeface="Aptos"/>
              </a:defRPr>
            </a:pPr>
            <a:r>
              <a:t>관리자: 즉시·예약·다국어 자동 발송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1E1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6969"/>
                </a:solidFill>
              </a:rPr>
              <a:t>VIET'S  /  INTERNAL · DEVELOPMENT MEETING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1919"/>
                </a:solidFill>
                <a:latin typeface="Aptos Display"/>
              </a:rPr>
              <a:t>5개 언어 자동화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6969"/>
                </a:solidFill>
                <a:latin typeface="Aptos"/>
              </a:rPr>
              <a:t>Device Locale 감지 + i18n + 콘텐츠 번역 분리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96596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27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93392"/>
            <a:ext cx="1563624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27068"/>
                </a:solidFill>
                <a:latin typeface="Aptos Display"/>
              </a:rPr>
              <a:t>VI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Vietnamese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0360" y="1828800"/>
            <a:ext cx="196596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81528" y="1993392"/>
            <a:ext cx="1563624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1919"/>
                </a:solidFill>
                <a:latin typeface="Aptos Display"/>
              </a:rPr>
              <a:t>KO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Korean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1828800"/>
            <a:ext cx="196596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21808" y="1993392"/>
            <a:ext cx="1563624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1919"/>
                </a:solidFill>
                <a:latin typeface="Aptos Display"/>
              </a:rPr>
              <a:t>EN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English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1828800"/>
            <a:ext cx="196596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62088" y="1993392"/>
            <a:ext cx="1563624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1919"/>
                </a:solidFill>
                <a:latin typeface="Aptos Display"/>
              </a:rPr>
              <a:t>ZH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Chinese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0" y="1828800"/>
            <a:ext cx="196596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02368" y="1993392"/>
            <a:ext cx="1563624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1919"/>
                </a:solidFill>
                <a:latin typeface="Aptos Display"/>
              </a:rPr>
              <a:t>JA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Japanese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114800"/>
            <a:ext cx="10424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91919"/>
                </a:solidFill>
                <a:latin typeface="Aptos"/>
              </a:defRPr>
            </a:pPr>
            <a:r>
              <a:t>UI 문자열: i18n 파일</a:t>
            </a:r>
          </a:p>
          <a:p>
            <a:pPr>
              <a:spcAft>
                <a:spcPts val="1000"/>
              </a:spcAft>
              <a:defRPr sz="1500" b="1">
                <a:solidFill>
                  <a:srgbClr val="191919"/>
                </a:solidFill>
                <a:latin typeface="Aptos"/>
              </a:defRPr>
            </a:pPr>
            <a:r>
              <a:t>부동산/상품 콘텐츠: 다국어 DB</a:t>
            </a:r>
          </a:p>
          <a:p>
            <a:pPr>
              <a:spcAft>
                <a:spcPts val="1000"/>
              </a:spcAft>
              <a:defRPr sz="1500" b="1">
                <a:solidFill>
                  <a:srgbClr val="191919"/>
                </a:solidFill>
                <a:latin typeface="Aptos"/>
              </a:defRPr>
            </a:pPr>
            <a:r>
              <a:t>AI Article: AI 번역 + 관리자 검수</a:t>
            </a:r>
          </a:p>
          <a:p>
            <a:pPr>
              <a:spcAft>
                <a:spcPts val="1000"/>
              </a:spcAft>
              <a:defRPr sz="1500" b="1">
                <a:solidFill>
                  <a:srgbClr val="191919"/>
                </a:solidFill>
                <a:latin typeface="Aptos"/>
              </a:defRPr>
            </a:pPr>
            <a:r>
              <a:t>사용자 메시지: 필요 시 실시간 번역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1E1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6969"/>
                </a:solidFill>
              </a:rPr>
              <a:t>VIET'S  /  INTERNAL · DEVELOPMENT MEETING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27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24028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7068"/>
                </a:solidFill>
              </a:rPr>
              <a:t>07 · TECH ARCHITECTURE</a:t>
            </a:r>
          </a:p>
          <a:p>
            <a:r>
              <a:rPr sz="3800" b="1">
                <a:solidFill>
                  <a:srgbClr val="191919"/>
                </a:solidFill>
              </a:rPr>
              <a:t>서버 · API · DB 아키텍처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1E1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6969"/>
                </a:solidFill>
              </a:rPr>
              <a:t>VIET'S  /  INTERNAL · DEVELOPMENT MEETING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1919"/>
                </a:solidFill>
                <a:latin typeface="Aptos Display"/>
              </a:rPr>
              <a:t>권장 기술 아키텍처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6969"/>
                </a:solidFill>
                <a:latin typeface="Aptos"/>
              </a:rPr>
              <a:t>Mobile / Admin → Edge Functions → Supabase 중심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356616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581912"/>
            <a:ext cx="3163824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1919"/>
                </a:solidFill>
                <a:latin typeface="Aptos Display"/>
              </a:rPr>
              <a:t>MOBILE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React Native</a:t>
            </a:r>
            <a:br/>
            <a:r>
              <a:t>Expo SDK 54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17320"/>
            <a:ext cx="356616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0288" y="1581912"/>
            <a:ext cx="3163824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1919"/>
                </a:solidFill>
                <a:latin typeface="Aptos Display"/>
              </a:rPr>
              <a:t>ADMIN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Web Admin</a:t>
            </a:r>
            <a:br/>
            <a:r>
              <a:t>RBAC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1417320"/>
            <a:ext cx="356616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76488" y="1581912"/>
            <a:ext cx="3163824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1919"/>
                </a:solidFill>
                <a:latin typeface="Aptos Display"/>
              </a:rPr>
              <a:t>EDGE FUNCTIONS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API / AI / Push</a:t>
            </a:r>
            <a:br/>
            <a:r>
              <a:t>External API Proxy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657600"/>
            <a:ext cx="356616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27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3822191"/>
            <a:ext cx="3163824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27068"/>
                </a:solidFill>
                <a:latin typeface="Aptos Display"/>
              </a:rPr>
              <a:t>SUPABASE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PostgreSQL</a:t>
            </a:r>
            <a:br/>
            <a:r>
              <a:t>Auth · Storage · Realtime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657600"/>
            <a:ext cx="356616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3822191"/>
            <a:ext cx="3163824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1919"/>
                </a:solidFill>
                <a:latin typeface="Aptos Display"/>
              </a:rPr>
              <a:t>EXTENSIONS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PostGIS</a:t>
            </a:r>
            <a:br/>
            <a:r>
              <a:t>pgvector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3657600"/>
            <a:ext cx="356616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76488" y="3822191"/>
            <a:ext cx="3163824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1919"/>
                </a:solidFill>
                <a:latin typeface="Aptos Display"/>
              </a:rPr>
              <a:t>EXTERNAL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Google Maps</a:t>
            </a:r>
            <a:br/>
            <a:r>
              <a:t>FCM · AI · Exchange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1E1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6969"/>
                </a:solidFill>
              </a:rPr>
              <a:t>VIET'S  /  INTERNAL · DEVELOPMENT MEETING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1919"/>
                </a:solidFill>
                <a:latin typeface="Aptos Display"/>
              </a:rPr>
              <a:t>DB 핵심 도메인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6969"/>
                </a:solidFill>
                <a:latin typeface="Aptos"/>
              </a:rPr>
              <a:t>금전 데이터는 원장 중심, 공간검색은 PostGIS, AI는 pgvector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4290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581912"/>
            <a:ext cx="3026664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1919"/>
                </a:solidFill>
                <a:latin typeface="Aptos Display"/>
              </a:rPr>
              <a:t>USER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profiles</a:t>
            </a:r>
            <a:br/>
            <a:r>
              <a:t>roles · devices · preferences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17320"/>
            <a:ext cx="34290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0288" y="1581912"/>
            <a:ext cx="3026664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1919"/>
                </a:solidFill>
                <a:latin typeface="Aptos Display"/>
              </a:rPr>
              <a:t>PROPERTY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properties</a:t>
            </a:r>
            <a:br/>
            <a:r>
              <a:t>images · docs · locations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59" y="1417320"/>
            <a:ext cx="34290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27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39327" y="1581912"/>
            <a:ext cx="3026664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27068"/>
                </a:solidFill>
                <a:latin typeface="Aptos Display"/>
              </a:rPr>
              <a:t>INVEST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products</a:t>
            </a:r>
            <a:br/>
            <a:r>
              <a:t>orders · holdings · transactions · dividends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474720"/>
            <a:ext cx="34290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3639312"/>
            <a:ext cx="3026664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1919"/>
                </a:solidFill>
                <a:latin typeface="Aptos Display"/>
              </a:rPr>
              <a:t>AI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articles</a:t>
            </a:r>
            <a:br/>
            <a:r>
              <a:t>sources · translations · embeddings · jobs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474720"/>
            <a:ext cx="34290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3639312"/>
            <a:ext cx="3026664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1919"/>
                </a:solidFill>
                <a:latin typeface="Aptos Display"/>
              </a:rPr>
              <a:t>MARKET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exchange_rates</a:t>
            </a:r>
            <a:br/>
            <a:r>
              <a:t>market_indicators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59" y="3474720"/>
            <a:ext cx="34290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7" y="3639312"/>
            <a:ext cx="3026664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1919"/>
                </a:solidFill>
                <a:latin typeface="Aptos Display"/>
              </a:rPr>
              <a:t>OPS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notifications</a:t>
            </a:r>
            <a:br/>
            <a:r>
              <a:t>campaigns · audit · logs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1E1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6969"/>
                </a:solidFill>
              </a:rPr>
              <a:t>VIET'S  /  INTERNAL · DEVELOPMENT MEETING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1919"/>
                </a:solidFill>
                <a:latin typeface="Aptos Display"/>
              </a:rPr>
              <a:t>필수 외부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6969"/>
                </a:solidFill>
                <a:latin typeface="Aptos"/>
              </a:rPr>
              <a:t>API Key 보호를 위해 가능한 서버/Edge Function 경유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4290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27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581912"/>
            <a:ext cx="3026664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27068"/>
                </a:solidFill>
                <a:latin typeface="Aptos Display"/>
              </a:rPr>
              <a:t>Google Maps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Maps SDK · Places · Geocoding · Routes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17320"/>
            <a:ext cx="34290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0288" y="1581912"/>
            <a:ext cx="3026664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1919"/>
                </a:solidFill>
                <a:latin typeface="Aptos Display"/>
              </a:rPr>
              <a:t>Firebase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FCM Push · Analytics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59" y="1417320"/>
            <a:ext cx="34290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39327" y="1581912"/>
            <a:ext cx="3026664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1919"/>
                </a:solidFill>
                <a:latin typeface="Aptos Display"/>
              </a:rPr>
              <a:t>YouTube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IFrame Player API · Intro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474720"/>
            <a:ext cx="34290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27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3639312"/>
            <a:ext cx="3026664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27068"/>
                </a:solidFill>
                <a:latin typeface="Aptos Display"/>
              </a:rPr>
              <a:t>AI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LLM · Embeddings · RAG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474720"/>
            <a:ext cx="34290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3639312"/>
            <a:ext cx="3026664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1919"/>
                </a:solidFill>
                <a:latin typeface="Aptos Display"/>
              </a:rPr>
              <a:t>Translation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Google Cloud Translation 또는 LLM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59" y="3474720"/>
            <a:ext cx="34290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7" y="3639312"/>
            <a:ext cx="3026664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1919"/>
                </a:solidFill>
                <a:latin typeface="Aptos Display"/>
              </a:rPr>
              <a:t>Exchange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환율 데이터 제공 API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1E1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6969"/>
                </a:solidFill>
              </a:rPr>
              <a:t>VIET'S  /  INTERNAL · DEVELOPMENT MEETING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27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24028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7068"/>
                </a:solidFill>
              </a:rPr>
              <a:t>08 · ADMIN</a:t>
            </a:r>
          </a:p>
          <a:p>
            <a:r>
              <a:rPr sz="3800" b="1">
                <a:solidFill>
                  <a:srgbClr val="191919"/>
                </a:solidFill>
              </a:rPr>
              <a:t>관리자 · 운영 · CMS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1E1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6969"/>
                </a:solidFill>
              </a:rPr>
              <a:t>VIET'S  /  INTERNAL · DEVELOPMENT MEETING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1919"/>
                </a:solidFill>
                <a:latin typeface="Aptos Display"/>
              </a:rPr>
              <a:t>Admin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6969"/>
                </a:solidFill>
                <a:latin typeface="Aptos"/>
              </a:rPr>
              <a:t>운영자가 상품·부동산·AI·Push를 하나의 콘솔에서 관리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4290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581912"/>
            <a:ext cx="3026664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1919"/>
                </a:solidFill>
                <a:latin typeface="Aptos Display"/>
              </a:rPr>
              <a:t>Dashboard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Users · Properties</a:t>
            </a:r>
            <a:br/>
            <a:r>
              <a:t>Investments · AUM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17320"/>
            <a:ext cx="34290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0288" y="1581912"/>
            <a:ext cx="3026664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1919"/>
                </a:solidFill>
                <a:latin typeface="Aptos Display"/>
              </a:rPr>
              <a:t>Property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등록 · 심사 · 문서</a:t>
            </a:r>
            <a:br/>
            <a:r>
              <a:t>지역 · 카테고리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59" y="1417320"/>
            <a:ext cx="34290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39327" y="1581912"/>
            <a:ext cx="3026664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1919"/>
                </a:solidFill>
                <a:latin typeface="Aptos Display"/>
              </a:rPr>
              <a:t>Investment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상품 · 모집 · 투자</a:t>
            </a:r>
            <a:br/>
            <a:r>
              <a:t>배당 · 공시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474720"/>
            <a:ext cx="34290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27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3639312"/>
            <a:ext cx="3026664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27068"/>
                </a:solidFill>
                <a:latin typeface="Aptos Display"/>
              </a:rPr>
              <a:t>AI Research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Source · 수집 · AI</a:t>
            </a:r>
            <a:br/>
            <a:r>
              <a:t>검수 · 게시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474720"/>
            <a:ext cx="34290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3639312"/>
            <a:ext cx="3026664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1919"/>
                </a:solidFill>
                <a:latin typeface="Aptos Display"/>
              </a:rPr>
              <a:t>Push / CMS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전체 · 세그먼트</a:t>
            </a:r>
            <a:br/>
            <a:r>
              <a:t>Banner · Notice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59" y="3474720"/>
            <a:ext cx="34290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7" y="3639312"/>
            <a:ext cx="3026664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1919"/>
                </a:solidFill>
                <a:latin typeface="Aptos Display"/>
              </a:rPr>
              <a:t>System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권한 · API · Logs</a:t>
            </a:r>
            <a:br/>
            <a:r>
              <a:t>Security · Settings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1E1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6969"/>
                </a:solidFill>
              </a:rPr>
              <a:t>VIET'S  /  INTERNAL · DEVELOPMENT MEETING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27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24028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7068"/>
                </a:solidFill>
              </a:rPr>
              <a:t>09 · SECURITY</a:t>
            </a:r>
          </a:p>
          <a:p>
            <a:r>
              <a:rPr sz="3800" b="1">
                <a:solidFill>
                  <a:srgbClr val="191919"/>
                </a:solidFill>
              </a:rPr>
              <a:t>보안 · 규제 · 데이터 거버넌스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1E1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6969"/>
                </a:solidFill>
              </a:rPr>
              <a:t>VIET'S  /  INTERNAL · DEVELOPMENT MEETING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1919"/>
                </a:solidFill>
                <a:latin typeface="Aptos Display"/>
              </a:rPr>
              <a:t>금융/투자 서비스 수준의 보안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6969"/>
                </a:solidFill>
                <a:latin typeface="Aptos"/>
              </a:rPr>
              <a:t>실제 투자금 수취 전 법률·금융 구조를 별도 확정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4290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27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581912"/>
            <a:ext cx="3026664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27068"/>
                </a:solidFill>
                <a:latin typeface="Aptos Display"/>
              </a:rPr>
              <a:t>RLS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모든 민감 테이블 접근제어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17320"/>
            <a:ext cx="34290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0288" y="1581912"/>
            <a:ext cx="3026664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1919"/>
                </a:solidFill>
                <a:latin typeface="Aptos Display"/>
              </a:rPr>
              <a:t>RBAC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super_admin / admin / editor / reviewer / operator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59" y="1417320"/>
            <a:ext cx="34290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39327" y="1581912"/>
            <a:ext cx="3026664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1919"/>
                </a:solidFill>
                <a:latin typeface="Aptos Display"/>
              </a:rPr>
              <a:t>AUDIT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관리자 행위·중요 변경 기록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474720"/>
            <a:ext cx="34290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27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3639312"/>
            <a:ext cx="3026664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27068"/>
                </a:solidFill>
                <a:latin typeface="Aptos Display"/>
              </a:rPr>
              <a:t>FINANCIAL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Transaction immutable 원장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474720"/>
            <a:ext cx="34290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3639312"/>
            <a:ext cx="3026664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1919"/>
                </a:solidFill>
                <a:latin typeface="Aptos Display"/>
              </a:rPr>
              <a:t>API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Secret은 Edge Function</a:t>
            </a:r>
            <a:br/>
            <a:r>
              <a:t>client 노출 금지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59" y="3474720"/>
            <a:ext cx="34290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7" y="3639312"/>
            <a:ext cx="3026664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1919"/>
                </a:solidFill>
                <a:latin typeface="Aptos Display"/>
              </a:rPr>
              <a:t>DOCUMENT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Private Storage + Signed URL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1E1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6969"/>
                </a:solidFill>
              </a:rPr>
              <a:t>VIET'S  /  INTERNAL · DEVELOPMENT MEETING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27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24028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7068"/>
                </a:solidFill>
              </a:rPr>
              <a:t>10 · DELIVERY</a:t>
            </a:r>
          </a:p>
          <a:p>
            <a:r>
              <a:rPr sz="3800" b="1">
                <a:solidFill>
                  <a:srgbClr val="191919"/>
                </a:solidFill>
              </a:rPr>
              <a:t>개발 로드맵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1E1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6969"/>
                </a:solidFill>
              </a:rPr>
              <a:t>VIET'S  /  INTERNAL · DEVELOPMENT MEETING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1919"/>
                </a:solidFill>
                <a:latin typeface="Aptos Display"/>
              </a:rPr>
              <a:t>Phase-by-Phase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6969"/>
                </a:solidFill>
                <a:latin typeface="Aptos"/>
              </a:rPr>
              <a:t>한 번에 전체를 만들지 않고 검증 가능한 단위로 진행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25880"/>
            <a:ext cx="256032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90472"/>
            <a:ext cx="2157984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1919"/>
                </a:solidFill>
                <a:latin typeface="Aptos Display"/>
              </a:rPr>
              <a:t>01  Audit /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325880"/>
            <a:ext cx="256032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38728" y="1490472"/>
            <a:ext cx="2157984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1919"/>
                </a:solidFill>
                <a:latin typeface="Aptos Display"/>
              </a:rPr>
              <a:t>02  Supabase / DB / RLS / Auth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256032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490472"/>
            <a:ext cx="2157984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1919"/>
                </a:solidFill>
                <a:latin typeface="Aptos Display"/>
              </a:rPr>
              <a:t>03  Navigation / Intro / Home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1325880"/>
            <a:ext cx="256032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27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99448" y="1490472"/>
            <a:ext cx="2157984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27068"/>
                </a:solidFill>
                <a:latin typeface="Aptos Display"/>
              </a:rPr>
              <a:t>04  Property / Search / Maps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880360"/>
            <a:ext cx="256032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044952"/>
            <a:ext cx="2157984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1919"/>
                </a:solidFill>
                <a:latin typeface="Aptos Display"/>
              </a:rPr>
              <a:t>05  Investment / Portfolio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2880360"/>
            <a:ext cx="256032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27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3044952"/>
            <a:ext cx="2157984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27068"/>
                </a:solidFill>
                <a:latin typeface="Aptos Display"/>
              </a:rPr>
              <a:t>06  AI Research / RAG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880360"/>
            <a:ext cx="256032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3044952"/>
            <a:ext cx="2157984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1919"/>
                </a:solidFill>
                <a:latin typeface="Aptos Display"/>
              </a:rPr>
              <a:t>07  Exchange / Market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2880360"/>
            <a:ext cx="256032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27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99448" y="3044952"/>
            <a:ext cx="2157984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27068"/>
                </a:solidFill>
                <a:latin typeface="Aptos Display"/>
              </a:rPr>
              <a:t>08  Push / Admin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434840"/>
            <a:ext cx="256032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599431"/>
            <a:ext cx="2157984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1919"/>
                </a:solidFill>
                <a:latin typeface="Aptos Display"/>
              </a:rPr>
              <a:t>09  Multilingual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37560" y="4434840"/>
            <a:ext cx="256032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38728" y="4599431"/>
            <a:ext cx="2157984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1919"/>
                </a:solidFill>
                <a:latin typeface="Aptos Display"/>
              </a:rPr>
              <a:t>10  Security / Performance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434840"/>
            <a:ext cx="256032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4599431"/>
            <a:ext cx="2157984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1919"/>
                </a:solidFill>
                <a:latin typeface="Aptos Display"/>
              </a:rPr>
              <a:t>11  Device QA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98280" y="4434840"/>
            <a:ext cx="256032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99448" y="4599431"/>
            <a:ext cx="2157984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1919"/>
                </a:solidFill>
                <a:latin typeface="Aptos Display"/>
              </a:rPr>
              <a:t>12  Production Build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1E1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6969"/>
                </a:solidFill>
              </a:rPr>
              <a:t>VIET'S  /  INTERNAL · DEVELOPMENT MEETING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1919"/>
                </a:solidFill>
                <a:latin typeface="Aptos Display"/>
              </a:rPr>
              <a:t>개발회의 핵심 원칙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6969"/>
                </a:solidFill>
                <a:latin typeface="Aptos"/>
              </a:rPr>
              <a:t>Claude Code / Cloud Code 바이브코딩 운영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91919"/>
                </a:solidFill>
                <a:latin typeface="Aptos"/>
              </a:defRPr>
            </a:pPr>
            <a:r>
              <a:t>No Guessing — 먼저 코드·DB·로그를 확인</a:t>
            </a:r>
          </a:p>
          <a:p>
            <a:pPr>
              <a:spcAft>
                <a:spcPts val="1000"/>
              </a:spcAft>
              <a:defRPr sz="1700" b="1">
                <a:solidFill>
                  <a:srgbClr val="191919"/>
                </a:solidFill>
                <a:latin typeface="Aptos"/>
              </a:defRPr>
            </a:pPr>
            <a:r>
              <a:t>Root Cause Evidence — 원인과 근거를 보고</a:t>
            </a:r>
          </a:p>
          <a:p>
            <a:pPr>
              <a:spcAft>
                <a:spcPts val="1000"/>
              </a:spcAft>
              <a:defRPr sz="1700" b="1">
                <a:solidFill>
                  <a:srgbClr val="191919"/>
                </a:solidFill>
                <a:latin typeface="Aptos"/>
              </a:defRPr>
            </a:pPr>
            <a:r>
              <a:t>One Error at a Time — 한 번에 하나씩 수정</a:t>
            </a:r>
          </a:p>
          <a:p>
            <a:pPr>
              <a:spcAft>
                <a:spcPts val="1000"/>
              </a:spcAft>
              <a:defRPr sz="1700" b="1">
                <a:solidFill>
                  <a:srgbClr val="191919"/>
                </a:solidFill>
                <a:latin typeface="Aptos"/>
              </a:defRPr>
            </a:pPr>
            <a:r>
              <a:t>Migration First — DB 변경은 migration으로</a:t>
            </a:r>
          </a:p>
          <a:p>
            <a:pPr>
              <a:spcAft>
                <a:spcPts val="1000"/>
              </a:spcAft>
              <a:defRPr sz="1700" b="1">
                <a:solidFill>
                  <a:srgbClr val="191919"/>
                </a:solidFill>
                <a:latin typeface="Aptos"/>
              </a:defRPr>
            </a:pPr>
            <a:r>
              <a:t>PASS = 실제 테스트 통과</a:t>
            </a:r>
          </a:p>
          <a:p>
            <a:pPr>
              <a:spcAft>
                <a:spcPts val="1000"/>
              </a:spcAft>
              <a:defRPr sz="1700" b="1">
                <a:solidFill>
                  <a:srgbClr val="191919"/>
                </a:solidFill>
                <a:latin typeface="Aptos"/>
              </a:defRPr>
            </a:pPr>
            <a:r>
              <a:t>Build After Major Fix — APK/iOS 빌드 및 디바이스 검증</a:t>
            </a:r>
          </a:p>
          <a:p>
            <a:pPr>
              <a:spcAft>
                <a:spcPts val="1000"/>
              </a:spcAft>
              <a:defRPr sz="1700" b="1">
                <a:solidFill>
                  <a:srgbClr val="191919"/>
                </a:solidFill>
                <a:latin typeface="Aptos"/>
              </a:defRPr>
            </a:pPr>
            <a:r>
              <a:t>UI Freeze — 합의된 디자인은 임의 변경 금지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1E1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6969"/>
                </a:solidFill>
              </a:rPr>
              <a:t>VIET'S  /  INTERNAL · DEVELOPMENT MEETING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27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24028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7068"/>
                </a:solidFill>
              </a:rPr>
              <a:t>11 · DECISION</a:t>
            </a:r>
          </a:p>
          <a:p>
            <a:r>
              <a:rPr sz="3800" b="1">
                <a:solidFill>
                  <a:srgbClr val="191919"/>
                </a:solidFill>
              </a:rPr>
              <a:t>MVP 우선순위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1E1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6969"/>
                </a:solidFill>
              </a:rPr>
              <a:t>VIET'S  /  INTERNAL · DEVELOPMENT MEETING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1919"/>
                </a:solidFill>
                <a:latin typeface="Aptos Display"/>
              </a:rPr>
              <a:t>먼저 만들 것 vs 나중에 붙일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6969"/>
                </a:solidFill>
                <a:latin typeface="Aptos"/>
              </a:rPr>
              <a:t>사용자 가치와 법적/운영 리스크를 분리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21208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27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581912"/>
            <a:ext cx="4809744" cy="396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27068"/>
                </a:solidFill>
                <a:latin typeface="Aptos Display"/>
              </a:rPr>
              <a:t>MVP 1차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부동산 정보</a:t>
            </a:r>
            <a:br/>
            <a:r>
              <a:t>지도 / 검색</a:t>
            </a:r>
            <a:br/>
            <a:r>
              <a:t>AI 부동산 뉴스</a:t>
            </a:r>
            <a:br/>
            <a:r>
              <a:t>시장정보 / 환율</a:t>
            </a:r>
            <a:br/>
            <a:r>
              <a:t>투자상품 정보</a:t>
            </a:r>
            <a:br/>
            <a:r>
              <a:t>다국어</a:t>
            </a:r>
            <a:br/>
            <a:r>
              <a:t>Push</a:t>
            </a:r>
            <a:br/>
            <a:r>
              <a:t>Admin / CMS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17320"/>
            <a:ext cx="521208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10528" y="1581912"/>
            <a:ext cx="4809744" cy="396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1919"/>
                </a:solidFill>
                <a:latin typeface="Aptos Display"/>
              </a:rPr>
              <a:t>2차 이후</a:t>
            </a:r>
          </a:p>
          <a:p>
            <a:pPr>
              <a:spcBef>
                <a:spcPts val="600"/>
              </a:spcBef>
              <a:defRPr sz="1100">
                <a:solidFill>
                  <a:srgbClr val="696969"/>
                </a:solidFill>
                <a:latin typeface="Aptos"/>
              </a:defRPr>
            </a:pPr>
            <a:r>
              <a:t>실제 투자금 수취</a:t>
            </a:r>
            <a:br/>
            <a:r>
              <a:t>지분/증권 발행 구조</a:t>
            </a:r>
            <a:br/>
            <a:r>
              <a:t>배당 집행</a:t>
            </a:r>
            <a:br/>
            <a:r>
              <a:t>환매/청산</a:t>
            </a:r>
            <a:br/>
            <a:r>
              <a:t>고도화된 KYC/AML</a:t>
            </a:r>
            <a:br/>
            <a:r>
              <a:t>금융기관 연계</a:t>
            </a:r>
            <a:br/>
            <a:r>
              <a:t>법률 검토 후 실행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1E1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6969"/>
                </a:solidFill>
              </a:rPr>
              <a:t>VIET'S  /  INTERNAL · DEVELOPMENT MEETING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1919"/>
                </a:solidFill>
                <a:latin typeface="Aptos Display"/>
              </a:rPr>
              <a:t>개발 착수 전 의사결정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6969"/>
                </a:solidFill>
                <a:latin typeface="Aptos"/>
              </a:rPr>
              <a:t>회의에서 먼저 확정해야 하는 항목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91919"/>
                </a:solidFill>
                <a:latin typeface="Aptos"/>
              </a:defRPr>
            </a:pPr>
            <a:r>
              <a:t>① Viet's 브랜드명 / 로고 / Accent Color</a:t>
            </a:r>
          </a:p>
          <a:p>
            <a:pPr>
              <a:spcAft>
                <a:spcPts val="1000"/>
              </a:spcAft>
              <a:defRPr sz="1700" b="1">
                <a:solidFill>
                  <a:srgbClr val="191919"/>
                </a:solidFill>
                <a:latin typeface="Aptos"/>
              </a:defRPr>
            </a:pPr>
            <a:r>
              <a:t>② 실제 서비스 국가 및 법적 사업모델</a:t>
            </a:r>
          </a:p>
          <a:p>
            <a:pPr>
              <a:spcAft>
                <a:spcPts val="1000"/>
              </a:spcAft>
              <a:defRPr sz="1700" b="1">
                <a:solidFill>
                  <a:srgbClr val="191919"/>
                </a:solidFill>
                <a:latin typeface="Aptos"/>
              </a:defRPr>
            </a:pPr>
            <a:r>
              <a:t>③ REIT vs 공동투자 vs 정보 플랫폼의 1차 포지션</a:t>
            </a:r>
          </a:p>
          <a:p>
            <a:pPr>
              <a:spcAft>
                <a:spcPts val="1000"/>
              </a:spcAft>
              <a:defRPr sz="1700" b="1">
                <a:solidFill>
                  <a:srgbClr val="191919"/>
                </a:solidFill>
                <a:latin typeface="Aptos"/>
              </a:defRPr>
            </a:pPr>
            <a:r>
              <a:t>④ 투자상품 데이터의 출처와 검수 책임</a:t>
            </a:r>
          </a:p>
          <a:p>
            <a:pPr>
              <a:spcAft>
                <a:spcPts val="1000"/>
              </a:spcAft>
              <a:defRPr sz="1700" b="1">
                <a:solidFill>
                  <a:srgbClr val="191919"/>
                </a:solidFill>
                <a:latin typeface="Aptos"/>
              </a:defRPr>
            </a:pPr>
            <a:r>
              <a:t>⑤ AI Research 허용 출처 범위</a:t>
            </a:r>
          </a:p>
          <a:p>
            <a:pPr>
              <a:spcAft>
                <a:spcPts val="1000"/>
              </a:spcAft>
              <a:defRPr sz="1700" b="1">
                <a:solidFill>
                  <a:srgbClr val="191919"/>
                </a:solidFill>
                <a:latin typeface="Aptos"/>
              </a:defRPr>
            </a:pPr>
            <a:r>
              <a:t>⑥ 사용할 AI / Translation / Exchange API</a:t>
            </a:r>
          </a:p>
          <a:p>
            <a:pPr>
              <a:spcAft>
                <a:spcPts val="1000"/>
              </a:spcAft>
              <a:defRPr sz="1700" b="1">
                <a:solidFill>
                  <a:srgbClr val="191919"/>
                </a:solidFill>
                <a:latin typeface="Aptos"/>
              </a:defRPr>
            </a:pPr>
            <a:r>
              <a:t>⑦ Admin 운영조직과 권한 체계</a:t>
            </a:r>
          </a:p>
          <a:p>
            <a:pPr>
              <a:spcAft>
                <a:spcPts val="1000"/>
              </a:spcAft>
              <a:defRPr sz="1700" b="1">
                <a:solidFill>
                  <a:srgbClr val="191919"/>
                </a:solidFill>
                <a:latin typeface="Aptos"/>
              </a:defRPr>
            </a:pPr>
            <a:r>
              <a:t>⑧ MVP 출시 범위와 디바이스 QA 기준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1E1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6969"/>
                </a:solidFill>
              </a:rPr>
              <a:t>VIET'S  /  INTERNAL · DEVELOPMENT MEETING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27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65960"/>
            <a:ext cx="1042416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191919"/>
                </a:solidFill>
              </a:rPr>
              <a:t>Viet's</a:t>
            </a:r>
          </a:p>
          <a:p>
            <a:r>
              <a:rPr sz="2400">
                <a:solidFill>
                  <a:srgbClr val="127068"/>
                </a:solidFill>
              </a:rPr>
              <a:t>Vietnam Real Estate Intelligence &amp; Investment</a:t>
            </a:r>
          </a:p>
          <a:p>
            <a:r>
              <a:rPr sz="1400">
                <a:solidFill>
                  <a:srgbClr val="696969"/>
                </a:solidFill>
              </a:rPr>
              <a:t>Build the data layer first. Connect investment execution after the legal &amp; financial structure is confirmed.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1E1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6969"/>
                </a:solidFill>
              </a:rPr>
              <a:t>VIET'S  /  INTERNAL · DEVELOPMENT MEETING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